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vnd.openxmlformats-officedocument.presentationml.presProps+xml"/>
  <Override PartName="/ppt/slideLayouts/slideLayout3.xml" ContentType="application/vnd.openxmlformats-officedocument.presentationml.slideLayout+xml"/>
  <Override PartName="/ppt/slides/slide5.xml" ContentType="application/vnd.openxmlformats-officedocument.presentationml.slide+xml"/>
  <Override PartName="/docProps/app.xml" ContentType="application/vnd.openxmlformats-officedocument.extended-properties+xml"/>
  <Default Extension="jpeg" ContentType="image/jpeg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9.xml" ContentType="application/vnd.openxmlformats-officedocument.presentationml.slideLayout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Layouts/slideLayout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59" r:id="rId6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1" d="100"/>
          <a:sy n="91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38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644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110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924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99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933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3723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32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069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3371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397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9F9D51-52AE-4AB6-9C4F-D84364235893}" type="datetimeFigureOut">
              <a:rPr lang="ko-KR" altLang="en-US" smtClean="0"/>
              <a:t>2019-04-29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DDAA1-7014-406F-852A-5B2425A5D9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306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48" y="508674"/>
            <a:ext cx="5458641" cy="250884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885824" y="2295388"/>
            <a:ext cx="4791075" cy="26132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1304924" y="2554121"/>
            <a:ext cx="452438" cy="10277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757362" y="3569033"/>
            <a:ext cx="9438722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백분위점수는 같은 나이의 아이들이 받은 점수 중에서 한 개인의 상대적인 위치를 나타내는 점수입니다</a:t>
            </a:r>
            <a:r>
              <a:rPr lang="en-US" altLang="ko-KR" sz="1400" dirty="0" smtClean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362" y="4343422"/>
            <a:ext cx="7496952" cy="887797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1757362" y="5513165"/>
            <a:ext cx="4759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연구소 검사 교안 참고해서 정리해보았음</a:t>
            </a:r>
            <a:r>
              <a:rPr lang="en-US" altLang="ko-KR" dirty="0" smtClean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1169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09510"/>
            <a:ext cx="6838950" cy="52387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4750" y="3604516"/>
            <a:ext cx="4938712" cy="359379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3686175" y="1730830"/>
            <a:ext cx="3600450" cy="180981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/>
          <p:cNvCxnSpPr/>
          <p:nvPr/>
        </p:nvCxnSpPr>
        <p:spPr>
          <a:xfrm flipV="1">
            <a:off x="7286625" y="1600199"/>
            <a:ext cx="476250" cy="4667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62875" y="773991"/>
            <a:ext cx="3852862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세부 영역별로 자녀의 실제 점수와 양육자가 예상한 점수가 얼마나 차이가 나는지 설명하는 내용입니다</a:t>
            </a:r>
            <a:r>
              <a:rPr lang="en-US" altLang="ko-KR" sz="1200" dirty="0" smtClean="0"/>
              <a:t>.</a:t>
            </a:r>
          </a:p>
          <a:p>
            <a:endParaRPr lang="en-US" altLang="ko-KR" sz="1200" dirty="0"/>
          </a:p>
          <a:p>
            <a:r>
              <a:rPr lang="ko-KR" altLang="en-US" sz="1200" dirty="0" smtClean="0"/>
              <a:t>자녀와 양육자의 차이 점수를 표준화</a:t>
            </a:r>
            <a:r>
              <a:rPr lang="en-US" altLang="ko-KR" sz="1200" dirty="0" smtClean="0"/>
              <a:t> Z</a:t>
            </a:r>
            <a:r>
              <a:rPr lang="ko-KR" altLang="en-US" sz="1200" dirty="0" smtClean="0"/>
              <a:t>점수로 변환하고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그 값을 표준편차 </a:t>
            </a:r>
            <a:r>
              <a:rPr lang="en-US" altLang="ko-KR" sz="1200" dirty="0" smtClean="0"/>
              <a:t>1</a:t>
            </a:r>
            <a:r>
              <a:rPr lang="ko-KR" altLang="en-US" sz="1200" dirty="0" smtClean="0"/>
              <a:t>을 기준으로 차이가 적음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상</a:t>
            </a:r>
            <a:r>
              <a:rPr lang="en-US" altLang="ko-KR" sz="1200" dirty="0" smtClean="0"/>
              <a:t>), </a:t>
            </a:r>
            <a:r>
              <a:rPr lang="ko-KR" altLang="en-US" sz="1200" dirty="0" smtClean="0"/>
              <a:t>차이가 보통임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중</a:t>
            </a:r>
            <a:r>
              <a:rPr lang="en-US" altLang="ko-KR" sz="1200" dirty="0" smtClean="0"/>
              <a:t>), </a:t>
            </a:r>
            <a:r>
              <a:rPr lang="ko-KR" altLang="en-US" sz="1200" dirty="0" smtClean="0"/>
              <a:t>차이가 큼</a:t>
            </a:r>
            <a:r>
              <a:rPr lang="en-US" altLang="ko-KR" sz="1200" dirty="0" smtClean="0"/>
              <a:t>(</a:t>
            </a:r>
            <a:r>
              <a:rPr lang="ko-KR" altLang="en-US" sz="1200" dirty="0" smtClean="0"/>
              <a:t>하</a:t>
            </a:r>
            <a:r>
              <a:rPr lang="en-US" altLang="ko-KR" sz="1200" dirty="0" smtClean="0"/>
              <a:t>)</a:t>
            </a:r>
            <a:r>
              <a:rPr lang="ko-KR" altLang="en-US" sz="1200" dirty="0" smtClean="0"/>
              <a:t>의 세 등급으로 표현한 상대적인 정보입니다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105150" y="666612"/>
            <a:ext cx="571500" cy="40971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/>
          <p:cNvCxnSpPr/>
          <p:nvPr/>
        </p:nvCxnSpPr>
        <p:spPr>
          <a:xfrm flipV="1">
            <a:off x="3686175" y="762000"/>
            <a:ext cx="904875" cy="1094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00575" y="621364"/>
            <a:ext cx="58102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등급</a:t>
            </a:r>
            <a:endParaRPr lang="ko-KR" altLang="en-US" sz="1400" dirty="0"/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5014912" y="914628"/>
            <a:ext cx="1071563" cy="50968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6000" y="773991"/>
            <a:ext cx="581025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등급</a:t>
            </a:r>
            <a:endParaRPr lang="ko-KR" altLang="en-US" sz="1400" dirty="0"/>
          </a:p>
        </p:txBody>
      </p:sp>
      <p:sp>
        <p:nvSpPr>
          <p:cNvPr id="22" name="직사각형 21"/>
          <p:cNvSpPr/>
          <p:nvPr/>
        </p:nvSpPr>
        <p:spPr>
          <a:xfrm>
            <a:off x="4776787" y="1424314"/>
            <a:ext cx="404813" cy="2426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456250" y="3232865"/>
            <a:ext cx="2238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&lt;</a:t>
            </a:r>
            <a:r>
              <a:rPr lang="ko-KR" altLang="en-US" sz="1400" b="1" dirty="0" smtClean="0"/>
              <a:t>연구소 검사 교안 내용</a:t>
            </a:r>
            <a:r>
              <a:rPr lang="en-US" altLang="ko-KR" sz="1400" b="1" dirty="0"/>
              <a:t>&gt;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427672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31" y="557783"/>
            <a:ext cx="4484457" cy="343516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414296" y="1165141"/>
            <a:ext cx="3435392" cy="2827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/>
          <p:nvPr/>
        </p:nvCxnSpPr>
        <p:spPr>
          <a:xfrm flipV="1">
            <a:off x="4849688" y="1583140"/>
            <a:ext cx="377405" cy="6984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51513" y="1259974"/>
            <a:ext cx="5887938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예상하신 점수보다 자녀의 실제 점수가 높았고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자녀와 양육자 간 차이 점수 값이 동일한 연령대의 평균보다 작은 것으로 나타났습니다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양육자께서는 자녀의 능력을 대체로 잘 파악하고 있는 것으로 보여집니다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1669" y="314548"/>
            <a:ext cx="25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각 케이스 정리 </a:t>
            </a:r>
            <a:r>
              <a:rPr lang="en-US" altLang="ko-KR" dirty="0" smtClean="0"/>
              <a:t>[</a:t>
            </a:r>
            <a:r>
              <a:rPr lang="ko-KR" altLang="en-US" dirty="0" smtClean="0"/>
              <a:t>상</a:t>
            </a:r>
            <a:r>
              <a:rPr lang="en-US" altLang="ko-KR" dirty="0" smtClean="0"/>
              <a:t>]&gt;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51514" y="795809"/>
            <a:ext cx="3393878" cy="307777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자녀 실제 점수 </a:t>
            </a:r>
            <a:r>
              <a:rPr lang="en-US" altLang="ko-KR" sz="1400" dirty="0" smtClean="0"/>
              <a:t>&gt; </a:t>
            </a:r>
            <a:r>
              <a:rPr lang="ko-KR" altLang="en-US" sz="1400" dirty="0" smtClean="0"/>
              <a:t>양육자 예측 점수 </a:t>
            </a:r>
            <a:r>
              <a:rPr lang="en-US" altLang="ko-KR" sz="1400" dirty="0" smtClean="0"/>
              <a:t>= +</a:t>
            </a:r>
            <a:endParaRPr lang="ko-KR" alt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6053795" y="2745725"/>
            <a:ext cx="5885655" cy="6463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예상하신 점수보다 자녀의 실제 점수가 낮았고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자녀와 양육자 간 차이 점수 값이 동일한 연령대의 평균보다 작은 것으로 나타났습니다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양육자께서는 자녀의 능력을 대체로 잘 파악하고 있는 것으로 보여집니다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797" y="2281560"/>
            <a:ext cx="3393878" cy="307777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자녀 실제 점수 </a:t>
            </a:r>
            <a:r>
              <a:rPr lang="en-US" altLang="ko-KR" sz="1400" dirty="0"/>
              <a:t>&lt;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양육자 예측 점수 </a:t>
            </a:r>
            <a:r>
              <a:rPr lang="en-US" altLang="ko-KR" sz="1400" dirty="0" smtClean="0"/>
              <a:t>= -</a:t>
            </a:r>
            <a:endParaRPr lang="ko-KR" altLang="en-US" sz="1400" dirty="0"/>
          </a:p>
        </p:txBody>
      </p:sp>
      <p:sp>
        <p:nvSpPr>
          <p:cNvPr id="17" name="TextBox 16"/>
          <p:cNvSpPr txBox="1"/>
          <p:nvPr/>
        </p:nvSpPr>
        <p:spPr>
          <a:xfrm>
            <a:off x="6053795" y="4090104"/>
            <a:ext cx="5885655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예상하신 점수보다 자녀의 실제 점수가 거의 유사하였으며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자녀와 양육자 간 차이 점수 값도 동일한 연령대의 평균보다 작은 것으로 나타났습니다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양육자께서는 자녀의 능력을 대체로 잘 파악하고 있는 것으로 보여집니다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797" y="3625939"/>
            <a:ext cx="4689104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자녀 실제 점수 </a:t>
            </a:r>
            <a:r>
              <a:rPr lang="en-US" altLang="ko-KR" sz="1400" dirty="0" smtClean="0"/>
              <a:t>=(</a:t>
            </a:r>
            <a:r>
              <a:rPr lang="ko-KR" altLang="en-US" sz="1400" dirty="0" smtClean="0"/>
              <a:t>비슷함</a:t>
            </a:r>
            <a:r>
              <a:rPr lang="en-US" altLang="ko-KR" sz="1400" dirty="0" smtClean="0"/>
              <a:t>) </a:t>
            </a:r>
            <a:r>
              <a:rPr lang="ko-KR" altLang="en-US" sz="1400" dirty="0" smtClean="0"/>
              <a:t>양육자 예측 점수 </a:t>
            </a:r>
            <a:r>
              <a:rPr lang="en-US" altLang="ko-KR" sz="1400" dirty="0" smtClean="0"/>
              <a:t>= </a:t>
            </a:r>
            <a:r>
              <a:rPr lang="ko-KR" altLang="en-US" sz="1400" dirty="0" smtClean="0"/>
              <a:t>비슷함</a:t>
            </a:r>
            <a:r>
              <a:rPr lang="en-US" altLang="ko-KR" sz="1400" dirty="0" smtClean="0"/>
              <a:t>(=)</a:t>
            </a:r>
            <a:endParaRPr lang="ko-KR" altLang="en-US" sz="14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142" y="777870"/>
            <a:ext cx="552450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275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31" y="557783"/>
            <a:ext cx="4484457" cy="343516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414296" y="1165141"/>
            <a:ext cx="3435392" cy="2827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/>
          <p:nvPr/>
        </p:nvCxnSpPr>
        <p:spPr>
          <a:xfrm flipV="1">
            <a:off x="4849688" y="1583140"/>
            <a:ext cx="377405" cy="6984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51513" y="1259974"/>
            <a:ext cx="5887938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예상하신 점수보다 자녀의 실제 점수가 높았고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자녀와 양육자 간 차이 점수 값이 동일한 연령대의 평균과 유사한 것으로 나타났습니다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양육자께서는 자녀의 능력을 어느 정도 파악하고 있는 것으로 보여집니다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1669" y="314548"/>
            <a:ext cx="2510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각 케이스 정리 </a:t>
            </a:r>
            <a:r>
              <a:rPr lang="en-US" altLang="ko-KR" dirty="0" smtClean="0"/>
              <a:t>[</a:t>
            </a:r>
            <a:r>
              <a:rPr lang="ko-KR" altLang="en-US" dirty="0"/>
              <a:t>중</a:t>
            </a:r>
            <a:r>
              <a:rPr lang="en-US" altLang="ko-KR" dirty="0" smtClean="0"/>
              <a:t>]&gt;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051514" y="795809"/>
            <a:ext cx="3393878" cy="307777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자녀 실제 점수 </a:t>
            </a:r>
            <a:r>
              <a:rPr lang="en-US" altLang="ko-KR" sz="1400" dirty="0" smtClean="0"/>
              <a:t>&gt; </a:t>
            </a:r>
            <a:r>
              <a:rPr lang="ko-KR" altLang="en-US" sz="1400" dirty="0" smtClean="0"/>
              <a:t>양육자 예측 점수 </a:t>
            </a:r>
            <a:r>
              <a:rPr lang="en-US" altLang="ko-KR" sz="1400" dirty="0" smtClean="0"/>
              <a:t>= +</a:t>
            </a:r>
            <a:endParaRPr lang="ko-KR" alt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6053795" y="2745725"/>
            <a:ext cx="5885655" cy="6463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예상하신 점수보다 자녀의 실제 점수가 낮았고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자녀와 양육자 간 차이 점수 값이 동일한 연령대의 평균과 유사한 것으로 나타났습니다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양육자께서는 자녀의 능력을 어느 정도 파악하고 있는 것으로 보여집니다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797" y="2281560"/>
            <a:ext cx="3393878" cy="307777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자녀 실제 점수 </a:t>
            </a:r>
            <a:r>
              <a:rPr lang="en-US" altLang="ko-KR" sz="1400" dirty="0"/>
              <a:t>&lt;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양육자 예측 점수 </a:t>
            </a:r>
            <a:r>
              <a:rPr lang="en-US" altLang="ko-KR" sz="1400" dirty="0" smtClean="0"/>
              <a:t>= -</a:t>
            </a:r>
            <a:endParaRPr lang="ko-KR" altLang="en-US" sz="14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093" y="949697"/>
            <a:ext cx="504825" cy="6191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53795" y="4090104"/>
            <a:ext cx="5885655" cy="646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예상하신 점수보다 자녀의 실제 점수가 거의 유사하였으며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자녀와 양육자 간 차이 점수 값도 동일한 연령대의 평균과 유사한 것으로 나타났습니다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양육자께서는 자녀의 능력을 어느 정도 파악하고 있는 것으로 보여집니다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797" y="3625939"/>
            <a:ext cx="4689104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자녀 실제 점수 </a:t>
            </a:r>
            <a:r>
              <a:rPr lang="en-US" altLang="ko-KR" sz="1400" dirty="0" smtClean="0"/>
              <a:t>=(</a:t>
            </a:r>
            <a:r>
              <a:rPr lang="ko-KR" altLang="en-US" sz="1400" dirty="0" smtClean="0"/>
              <a:t>비슷함</a:t>
            </a:r>
            <a:r>
              <a:rPr lang="en-US" altLang="ko-KR" sz="1400" dirty="0" smtClean="0"/>
              <a:t>) </a:t>
            </a:r>
            <a:r>
              <a:rPr lang="ko-KR" altLang="en-US" sz="1400" dirty="0" smtClean="0"/>
              <a:t>양육자 예측 점수 </a:t>
            </a:r>
            <a:r>
              <a:rPr lang="en-US" altLang="ko-KR" sz="1400" dirty="0" smtClean="0"/>
              <a:t>= </a:t>
            </a:r>
            <a:r>
              <a:rPr lang="ko-KR" altLang="en-US" sz="1400" dirty="0" smtClean="0"/>
              <a:t>비슷함</a:t>
            </a:r>
            <a:r>
              <a:rPr lang="en-US" altLang="ko-KR" sz="1400" dirty="0" smtClean="0"/>
              <a:t>(=)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19594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31" y="557783"/>
            <a:ext cx="4484457" cy="343516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414296" y="1165141"/>
            <a:ext cx="3435392" cy="2827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화살표 연결선 3"/>
          <p:cNvCxnSpPr/>
          <p:nvPr/>
        </p:nvCxnSpPr>
        <p:spPr>
          <a:xfrm flipV="1">
            <a:off x="4849688" y="1583140"/>
            <a:ext cx="377405" cy="69842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51513" y="1259974"/>
            <a:ext cx="5887938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예상하신 점수보다 자녀의 실제 점수가 높았고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자녀와 양육자 간 차이 점수 값이 동일한 연령대의 평균보다 큰 것으로 나타났습니다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양육자께서는 자녀의 능력을 충분히 파악하지 못한 것으로 보여집니다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1669" y="314548"/>
            <a:ext cx="2561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&lt;</a:t>
            </a:r>
            <a:r>
              <a:rPr lang="ko-KR" altLang="en-US" dirty="0" smtClean="0"/>
              <a:t>각 케이스 정리 </a:t>
            </a:r>
            <a:r>
              <a:rPr lang="en-US" altLang="ko-KR" dirty="0" smtClean="0"/>
              <a:t>[</a:t>
            </a:r>
            <a:r>
              <a:rPr lang="ko-KR" altLang="en-US" dirty="0" smtClean="0"/>
              <a:t>하</a:t>
            </a:r>
            <a:r>
              <a:rPr lang="en-US" altLang="ko-KR" dirty="0" smtClean="0"/>
              <a:t>]&gt;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7271" y="1165141"/>
            <a:ext cx="611481" cy="635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51514" y="795809"/>
            <a:ext cx="3393878" cy="307777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자녀 실제 점수 </a:t>
            </a:r>
            <a:r>
              <a:rPr lang="en-US" altLang="ko-KR" sz="1400" dirty="0" smtClean="0"/>
              <a:t>&gt; </a:t>
            </a:r>
            <a:r>
              <a:rPr lang="ko-KR" altLang="en-US" sz="1400" dirty="0" smtClean="0"/>
              <a:t>양육자 예측 점수 </a:t>
            </a:r>
            <a:r>
              <a:rPr lang="en-US" altLang="ko-KR" sz="1400" dirty="0" smtClean="0"/>
              <a:t>= +</a:t>
            </a:r>
            <a:endParaRPr lang="ko-KR" alt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6053795" y="2745725"/>
            <a:ext cx="5885655" cy="6463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예상하신 점수보다 자녀의 실제 점수가 낮았고</a:t>
            </a:r>
            <a:r>
              <a:rPr lang="en-US" altLang="ko-KR" sz="1200" dirty="0" smtClean="0"/>
              <a:t>, </a:t>
            </a:r>
            <a:r>
              <a:rPr lang="ko-KR" altLang="en-US" sz="1200" dirty="0" smtClean="0"/>
              <a:t>자녀와 양육자 간 차이 점수 값이 동일한 연령대의 평균보다 큰 것으로 나타났습니다</a:t>
            </a:r>
            <a:r>
              <a:rPr lang="en-US" altLang="ko-KR" sz="1200" dirty="0" smtClean="0"/>
              <a:t>. </a:t>
            </a:r>
            <a:r>
              <a:rPr lang="ko-KR" altLang="en-US" sz="1200" dirty="0" smtClean="0"/>
              <a:t>양육자께서는 자녀의 능력을 충분히 파악하지 못한 것으로 보여집니다</a:t>
            </a:r>
            <a:r>
              <a:rPr lang="en-US" altLang="ko-KR" sz="1200" dirty="0" smtClean="0"/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53797" y="2281560"/>
            <a:ext cx="3393878" cy="307777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ko-KR" altLang="en-US" sz="1400" dirty="0" smtClean="0"/>
              <a:t>자녀 실제 점수 </a:t>
            </a:r>
            <a:r>
              <a:rPr lang="en-US" altLang="ko-KR" sz="1400" dirty="0"/>
              <a:t>&lt;</a:t>
            </a:r>
            <a:r>
              <a:rPr lang="en-US" altLang="ko-KR" sz="1400" dirty="0" smtClean="0"/>
              <a:t> </a:t>
            </a:r>
            <a:r>
              <a:rPr lang="ko-KR" altLang="en-US" sz="1400" dirty="0" smtClean="0"/>
              <a:t>양육자 예측 점수 </a:t>
            </a:r>
            <a:r>
              <a:rPr lang="en-US" altLang="ko-KR" sz="1400" dirty="0" smtClean="0"/>
              <a:t>= -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32089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419</Words>
  <Application>Microsoft Office PowerPoint</Application>
  <PresentationFormat>와이드스크린</PresentationFormat>
  <Paragraphs>27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프레젠테이션</dc:title>
  <dc:creator>한민지</dc:creator>
  <cp:lastModifiedBy>김준구</cp:lastModifiedBy>
  <cp:revision>19</cp:revision>
  <cp:lastPrinted>2019-04-29T00:50:06Z</cp:lastPrinted>
  <dcterms:created xsi:type="dcterms:W3CDTF">2019-04-28T04:27:36Z</dcterms:created>
  <dcterms:modified xsi:type="dcterms:W3CDTF">2019-04-29T00:52:26Z</dcterms:modified>
</cp:coreProperties>
</file>