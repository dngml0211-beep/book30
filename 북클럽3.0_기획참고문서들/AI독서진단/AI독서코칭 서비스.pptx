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62" r:id="rId3"/>
    <p:sldId id="264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66" y="3342"/>
      </p:cViewPr>
      <p:guideLst>
        <p:guide pos="755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CA75A-2F5F-4764-9410-0BF864CC35A6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187D4-BFA3-431A-8EC3-C31433D2BC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505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38" indent="-171438">
              <a:buFont typeface="Arial" charset="0"/>
              <a:buChar char="•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49E661-6CC6-4195-89F0-3C4F1437AF7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8810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38" indent="-171438">
              <a:buFont typeface="Arial" charset="0"/>
              <a:buChar char="•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49E661-6CC6-4195-89F0-3C4F1437AF7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251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38" indent="-171438">
              <a:buFont typeface="Arial" charset="0"/>
              <a:buChar char="•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49E661-6CC6-4195-89F0-3C4F1437AF7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99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38" indent="-171438">
              <a:buFont typeface="Arial" charset="0"/>
              <a:buChar char="•"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49E661-6CC6-4195-89F0-3C4F1437AF7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892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.emf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2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84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392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475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064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2515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01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106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82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307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_기본 ty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221F20"/>
              </a:clrFrom>
              <a:clrTo>
                <a:srgbClr val="221F2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04512" y="44171"/>
            <a:ext cx="1444506" cy="540617"/>
          </a:xfrm>
          <a:prstGeom prst="rect">
            <a:avLst/>
          </a:prstGeom>
        </p:spPr>
      </p:pic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956" y="1591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think-cell Slide" r:id="rId6" imgW="473" imgH="476" progId="TCLayout.ActiveDocument.1">
                  <p:embed/>
                </p:oleObj>
              </mc:Choice>
              <mc:Fallback>
                <p:oleObj name="think-cell Slide" r:id="rId6" imgW="473" imgH="476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56" y="1591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183510" y="62849"/>
            <a:ext cx="10279385" cy="526544"/>
          </a:xfrm>
          <a:prstGeom prst="rect">
            <a:avLst/>
          </a:prstGeom>
          <a:noFill/>
          <a:ln w="9525">
            <a:noFill/>
            <a:prstDash val="solid"/>
          </a:ln>
          <a:effectLst/>
        </p:spPr>
        <p:txBody>
          <a:bodyPr lIns="72000" tIns="36000" rIns="72000" bIns="3600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24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183510" y="728760"/>
            <a:ext cx="11963077" cy="540000"/>
          </a:xfrm>
          <a:solidFill>
            <a:schemeClr val="bg1"/>
          </a:solidFill>
        </p:spPr>
        <p:txBody>
          <a:bodyPr wrap="none" lIns="72000" tIns="36000" rIns="72000" bIns="36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</p:txBody>
      </p:sp>
      <p:sp>
        <p:nvSpPr>
          <p:cNvPr id="15" name="Text Box 32"/>
          <p:cNvSpPr txBox="1">
            <a:spLocks noChangeArrowheads="1"/>
          </p:cNvSpPr>
          <p:nvPr userDrawn="1"/>
        </p:nvSpPr>
        <p:spPr bwMode="auto">
          <a:xfrm>
            <a:off x="11414187" y="6546027"/>
            <a:ext cx="718088" cy="184666"/>
          </a:xfrm>
          <a:prstGeom prst="rect">
            <a:avLst/>
          </a:prstGeom>
          <a:noFill/>
          <a:ln>
            <a:noFill/>
          </a:ln>
        </p:spPr>
        <p:txBody>
          <a:bodyPr wrap="none" lIns="123796" tIns="0" rIns="123796" bIns="0" anchor="b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78136FDD-138A-41CF-8912-105E2455A463}" type="slidenum">
              <a:rPr lang="ko-KR" altLang="en-US" sz="1200" b="1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pPr algn="r" eaLnBrk="1" hangingPunct="1"/>
              <a:t>‹#›</a:t>
            </a:fld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panose="020B0604020202020204" pitchFamily="34" charset="0"/>
              </a:rPr>
              <a:t>/XX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D29EB7F-254C-A624-7E3B-BF8367833617}"/>
              </a:ext>
            </a:extLst>
          </p:cNvPr>
          <p:cNvCxnSpPr/>
          <p:nvPr userDrawn="1"/>
        </p:nvCxnSpPr>
        <p:spPr>
          <a:xfrm>
            <a:off x="0" y="6420678"/>
            <a:ext cx="12192000" cy="0"/>
          </a:xfrm>
          <a:prstGeom prst="line">
            <a:avLst/>
          </a:prstGeom>
          <a:ln>
            <a:solidFill>
              <a:srgbClr val="989FB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643BB8-6A6D-CB7D-D87B-9A084AA84EDE}"/>
              </a:ext>
            </a:extLst>
          </p:cNvPr>
          <p:cNvCxnSpPr/>
          <p:nvPr userDrawn="1"/>
        </p:nvCxnSpPr>
        <p:spPr>
          <a:xfrm>
            <a:off x="0" y="612203"/>
            <a:ext cx="12192000" cy="0"/>
          </a:xfrm>
          <a:prstGeom prst="line">
            <a:avLst/>
          </a:prstGeom>
          <a:ln>
            <a:solidFill>
              <a:srgbClr val="989FB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045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7B78D-4A85-4770-B25B-3D0A544544A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28E9C-5D74-42CE-A75E-80421C5157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360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192088" y="676154"/>
            <a:ext cx="11954499" cy="540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ko-KR" altLang="en-US" dirty="0"/>
              <a:t>‘</a:t>
            </a:r>
            <a:r>
              <a:rPr lang="en-US" altLang="ko-KR" dirty="0"/>
              <a:t>AI</a:t>
            </a:r>
            <a:r>
              <a:rPr lang="ko-KR" altLang="en-US" dirty="0" err="1"/>
              <a:t>독서케어’라는</a:t>
            </a:r>
            <a:r>
              <a:rPr lang="ko-KR" altLang="en-US" dirty="0"/>
              <a:t> 서비스를 제공하고 있으며 이 서비스 </a:t>
            </a:r>
            <a:r>
              <a:rPr lang="ko-KR" altLang="en-US" dirty="0" smtClean="0"/>
              <a:t>안에 </a:t>
            </a:r>
            <a:r>
              <a:rPr lang="en-US" altLang="ko-KR" dirty="0" smtClean="0"/>
              <a:t>AI</a:t>
            </a:r>
            <a:r>
              <a:rPr lang="ko-KR" altLang="en-US" dirty="0" err="1" smtClean="0"/>
              <a:t>독서진단</a:t>
            </a:r>
            <a:r>
              <a:rPr lang="ko-KR" altLang="en-US" dirty="0" smtClean="0"/>
              <a:t> </a:t>
            </a:r>
            <a:r>
              <a:rPr lang="en-US" altLang="ko-KR" dirty="0" smtClean="0"/>
              <a:t>/ AI</a:t>
            </a:r>
            <a:r>
              <a:rPr lang="ko-KR" altLang="en-US" dirty="0" err="1" smtClean="0"/>
              <a:t>독서코칭</a:t>
            </a:r>
            <a:r>
              <a:rPr lang="ko-KR" altLang="en-US" dirty="0" smtClean="0"/>
              <a:t> </a:t>
            </a:r>
            <a:r>
              <a:rPr lang="en-US" altLang="ko-KR" dirty="0" smtClean="0"/>
              <a:t>/ AI</a:t>
            </a:r>
            <a:r>
              <a:rPr lang="ko-KR" altLang="en-US" dirty="0" err="1" smtClean="0"/>
              <a:t>독서플랜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>
              <a:lnSpc>
                <a:spcPct val="130000"/>
              </a:lnSpc>
            </a:pPr>
            <a:r>
              <a:rPr lang="ko-KR" altLang="en-US" dirty="0" smtClean="0">
                <a:latin typeface="+mn-ea"/>
                <a:ea typeface="+mn-ea"/>
              </a:rPr>
              <a:t>총 </a:t>
            </a:r>
            <a:r>
              <a:rPr lang="ko-KR" altLang="en-US" dirty="0" smtClean="0"/>
              <a:t>세 가지 서비스를 제공하고 있음</a:t>
            </a:r>
            <a:r>
              <a:rPr lang="en-US" altLang="ko-KR" dirty="0" smtClean="0"/>
              <a:t>. </a:t>
            </a:r>
            <a:r>
              <a:rPr lang="ko-KR" altLang="en-US" dirty="0" smtClean="0"/>
              <a:t>세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가지</a:t>
            </a:r>
            <a:r>
              <a:rPr lang="en-US" altLang="ko-KR" dirty="0" smtClean="0"/>
              <a:t> </a:t>
            </a:r>
            <a:r>
              <a:rPr lang="ko-KR" altLang="en-US" dirty="0" smtClean="0"/>
              <a:t>서비스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모두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사용자의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독서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이력을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분석하고</a:t>
            </a:r>
            <a:r>
              <a:rPr lang="en-US" altLang="ko-KR" dirty="0" smtClean="0"/>
              <a:t> </a:t>
            </a:r>
            <a:r>
              <a:rPr lang="ko-KR" altLang="en-US" dirty="0" smtClean="0"/>
              <a:t>전집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추천함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6" name="제목 19"/>
          <p:cNvSpPr>
            <a:spLocks noGrp="1"/>
          </p:cNvSpPr>
          <p:nvPr>
            <p:ph type="title"/>
          </p:nvPr>
        </p:nvSpPr>
        <p:spPr>
          <a:xfrm>
            <a:off x="192089" y="7177"/>
            <a:ext cx="10367961" cy="601617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AI</a:t>
            </a:r>
            <a:r>
              <a:rPr lang="ko-KR" altLang="en-US" dirty="0" err="1" smtClean="0"/>
              <a:t>독서케어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58629" y="3036002"/>
            <a:ext cx="3741283" cy="10698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한국행동과학연구소에서 개발한 문항으로 진단을 통해 자녀의 독서 능력 진단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25358" y="3036000"/>
            <a:ext cx="3741283" cy="162728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미래 고객 대상 전용으로 교사가 고객 입회 전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가입 초반에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독서플랜을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설계하여 제공하고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고객은 라운지와 패드에서 플랜 내역 조회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수정을 할 수 있음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0573" y="3041834"/>
            <a:ext cx="3732797" cy="137050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사용자 독서 이력을 기반으로 </a:t>
            </a: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북클럽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이용현황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독서 습관 분석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어휘 분석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독서활동추천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및 전집 추천 서비스로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개월에 한번씩 발송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92087" y="2459937"/>
            <a:ext cx="3741283" cy="57606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latin typeface="+mn-ea"/>
              </a:rPr>
              <a:t>AI</a:t>
            </a:r>
            <a:r>
              <a:rPr lang="ko-KR" altLang="en-US" sz="2000" b="1" dirty="0" err="1" smtClean="0">
                <a:latin typeface="+mn-ea"/>
              </a:rPr>
              <a:t>독서코칭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225358" y="2459937"/>
            <a:ext cx="3741283" cy="57606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err="1" smtClean="0">
                <a:latin typeface="+mn-ea"/>
              </a:rPr>
              <a:t>독서플랜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8258629" y="2459937"/>
            <a:ext cx="3741283" cy="57606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latin typeface="+mn-ea"/>
              </a:rPr>
              <a:t>AI</a:t>
            </a:r>
            <a:r>
              <a:rPr lang="ko-KR" altLang="en-US" sz="2000" b="1" dirty="0" err="1" smtClean="0">
                <a:latin typeface="+mn-ea"/>
              </a:rPr>
              <a:t>독서진단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92087" y="1709949"/>
            <a:ext cx="11807825" cy="57606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smtClean="0">
                <a:latin typeface="+mn-ea"/>
              </a:rPr>
              <a:t>AI</a:t>
            </a:r>
            <a:r>
              <a:rPr lang="ko-KR" altLang="en-US" sz="2000" b="1" dirty="0" err="1" smtClean="0">
                <a:latin typeface="+mn-ea"/>
              </a:rPr>
              <a:t>독서케어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75656" y="5708268"/>
            <a:ext cx="9869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latin typeface="+mn-ea"/>
              </a:rPr>
              <a:t>독서 진단 결과 기반으로 사용자에게 적합한 </a:t>
            </a:r>
            <a:r>
              <a:rPr lang="ko-KR" altLang="en-US" sz="2800" b="1" dirty="0" err="1" smtClean="0">
                <a:latin typeface="+mn-ea"/>
              </a:rPr>
              <a:t>전집세트</a:t>
            </a:r>
            <a:r>
              <a:rPr lang="ko-KR" altLang="en-US" sz="2800" b="1" dirty="0" smtClean="0">
                <a:latin typeface="+mn-ea"/>
              </a:rPr>
              <a:t> 추천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7" name="이등변 삼각형 6"/>
          <p:cNvSpPr/>
          <p:nvPr/>
        </p:nvSpPr>
        <p:spPr>
          <a:xfrm rot="10800000">
            <a:off x="1592490" y="4746184"/>
            <a:ext cx="9007020" cy="628242"/>
          </a:xfrm>
          <a:prstGeom prst="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709884" y="4823889"/>
            <a:ext cx="277222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chemeClr val="bg1"/>
                </a:solidFill>
              </a:rPr>
              <a:t>목적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998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>
          <a:xfrm>
            <a:off x="192088" y="7177"/>
            <a:ext cx="10368409" cy="601617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AI</a:t>
            </a:r>
            <a:r>
              <a:rPr lang="ko-KR" altLang="en-US" dirty="0" err="1" smtClean="0"/>
              <a:t>독서코칭</a:t>
            </a:r>
            <a:r>
              <a:rPr lang="ko-KR" altLang="en-US" dirty="0" smtClean="0"/>
              <a:t> 서비스 </a:t>
            </a:r>
            <a:r>
              <a:rPr lang="ko-KR" altLang="en-US" dirty="0" smtClean="0"/>
              <a:t>개요</a:t>
            </a:r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604982"/>
              </p:ext>
            </p:extLst>
          </p:nvPr>
        </p:nvGraphicFramePr>
        <p:xfrm>
          <a:off x="192087" y="728758"/>
          <a:ext cx="11807825" cy="5629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525">
                  <a:extLst>
                    <a:ext uri="{9D8B030D-6E8A-4147-A177-3AD203B41FA5}">
                      <a16:colId xmlns:a16="http://schemas.microsoft.com/office/drawing/2014/main" val="2353596442"/>
                    </a:ext>
                  </a:extLst>
                </a:gridCol>
                <a:gridCol w="10002300">
                  <a:extLst>
                    <a:ext uri="{9D8B030D-6E8A-4147-A177-3AD203B41FA5}">
                      <a16:colId xmlns:a16="http://schemas.microsoft.com/office/drawing/2014/main" val="3066102398"/>
                    </a:ext>
                  </a:extLst>
                </a:gridCol>
              </a:tblGrid>
              <a:tr h="68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서비스 형태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학부모 </a:t>
                      </a:r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+ 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교사 </a:t>
                      </a:r>
                      <a:r>
                        <a:rPr lang="ko-KR" altLang="en-US" b="0" dirty="0" err="1" smtClean="0">
                          <a:solidFill>
                            <a:schemeClr val="tx1"/>
                          </a:solidFill>
                        </a:rPr>
                        <a:t>분석지</a:t>
                      </a:r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 발송 형태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603956"/>
                  </a:ext>
                </a:extLst>
              </a:tr>
              <a:tr h="119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발송 경로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학부모 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라운지앱</a:t>
                      </a: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교사 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북클럽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통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494078"/>
                  </a:ext>
                </a:extLst>
              </a:tr>
              <a:tr h="68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발송 주기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개월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566640"/>
                  </a:ext>
                </a:extLst>
              </a:tr>
              <a:tr h="6824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분석형태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별도 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모델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 적용은 없으며</a:t>
                      </a: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통계 및 </a:t>
                      </a:r>
                      <a:r>
                        <a:rPr lang="ko-KR" altLang="en-US" baseline="0" dirty="0" err="1" smtClean="0">
                          <a:solidFill>
                            <a:schemeClr val="tx1"/>
                          </a:solidFill>
                        </a:rPr>
                        <a:t>로직</a:t>
                      </a:r>
                      <a:r>
                        <a:rPr lang="ko-KR" altLang="en-US" baseline="0" dirty="0" smtClean="0">
                          <a:solidFill>
                            <a:schemeClr val="tx1"/>
                          </a:solidFill>
                        </a:rPr>
                        <a:t> 기반 분석 제공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146915"/>
                  </a:ext>
                </a:extLst>
              </a:tr>
              <a:tr h="119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목적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사용자 독서 진단 결과 기반으로 사용자에게 적합한 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전집세트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추천</a:t>
                      </a: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독서 성장 현황을 통한 영업 마케팅 용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880197"/>
                  </a:ext>
                </a:extLst>
              </a:tr>
              <a:tr h="11942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서비스 담당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분석 및 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로직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개발 담당 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: AX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연구소 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AICX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혁신팀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왕규현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연구원</a:t>
                      </a: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서비스 운영 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: IT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혁신본부</a:t>
                      </a:r>
                      <a:r>
                        <a:rPr lang="ko-KR" altLang="en-US" dirty="0" smtClean="0">
                          <a:solidFill>
                            <a:schemeClr val="tx1"/>
                          </a:solidFill>
                        </a:rPr>
                        <a:t> 서비스기획팀 </a:t>
                      </a:r>
                      <a:r>
                        <a:rPr lang="ko-KR" altLang="en-US" dirty="0" err="1" smtClean="0">
                          <a:solidFill>
                            <a:schemeClr val="tx1"/>
                          </a:solidFill>
                        </a:rPr>
                        <a:t>지정환수석</a:t>
                      </a:r>
                      <a:endParaRPr lang="en-US" altLang="ko-KR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022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757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>
          <a:xfrm>
            <a:off x="192088" y="7177"/>
            <a:ext cx="10368409" cy="601617"/>
          </a:xfrm>
        </p:spPr>
        <p:txBody>
          <a:bodyPr>
            <a:noAutofit/>
          </a:bodyPr>
          <a:lstStyle/>
          <a:p>
            <a:r>
              <a:rPr lang="en-US" altLang="ko-KR" dirty="0" smtClean="0"/>
              <a:t>AI</a:t>
            </a:r>
            <a:r>
              <a:rPr lang="ko-KR" altLang="en-US" dirty="0" err="1" smtClean="0"/>
              <a:t>독서코칭</a:t>
            </a:r>
            <a:r>
              <a:rPr lang="ko-KR" altLang="en-US" dirty="0" smtClean="0"/>
              <a:t> 서비스 </a:t>
            </a:r>
            <a:r>
              <a:rPr lang="en-US" altLang="ko-KR" dirty="0" smtClean="0"/>
              <a:t>Flow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192088" y="676154"/>
            <a:ext cx="11954499" cy="540000"/>
          </a:xfrm>
        </p:spPr>
        <p:txBody>
          <a:bodyPr/>
          <a:lstStyle/>
          <a:p>
            <a:r>
              <a:rPr lang="en-US" altLang="ko-KR" dirty="0" smtClean="0"/>
              <a:t>AI</a:t>
            </a:r>
            <a:r>
              <a:rPr lang="ko-KR" altLang="en-US" dirty="0" err="1" smtClean="0"/>
              <a:t>독서코칭</a:t>
            </a:r>
            <a:r>
              <a:rPr lang="ko-KR" altLang="en-US" dirty="0" smtClean="0"/>
              <a:t> 분석에는 별도 모델 활용하지 않으며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로직</a:t>
            </a:r>
            <a:r>
              <a:rPr lang="ko-KR" altLang="en-US" dirty="0" smtClean="0"/>
              <a:t> 기반의 분석을 제공하고 있음</a:t>
            </a:r>
            <a:endParaRPr lang="en-US" altLang="ko-KR" dirty="0" smtClean="0"/>
          </a:p>
          <a:p>
            <a:r>
              <a:rPr lang="ko-KR" altLang="en-US" dirty="0" smtClean="0">
                <a:latin typeface="+mn-ea"/>
                <a:ea typeface="+mn-ea"/>
              </a:rPr>
              <a:t>해당 분석 </a:t>
            </a:r>
            <a:r>
              <a:rPr lang="ko-KR" altLang="en-US" dirty="0" err="1" smtClean="0">
                <a:latin typeface="+mn-ea"/>
                <a:ea typeface="+mn-ea"/>
              </a:rPr>
              <a:t>로직</a:t>
            </a:r>
            <a:r>
              <a:rPr lang="ko-KR" altLang="en-US" dirty="0" smtClean="0">
                <a:latin typeface="+mn-ea"/>
                <a:ea typeface="+mn-ea"/>
              </a:rPr>
              <a:t> 및 구성은 </a:t>
            </a:r>
            <a:r>
              <a:rPr lang="en-US" altLang="ko-KR" dirty="0" smtClean="0">
                <a:latin typeface="+mn-ea"/>
                <a:ea typeface="+mn-ea"/>
              </a:rPr>
              <a:t>AX</a:t>
            </a:r>
            <a:r>
              <a:rPr lang="ko-KR" altLang="en-US" dirty="0" smtClean="0">
                <a:latin typeface="+mn-ea"/>
                <a:ea typeface="+mn-ea"/>
              </a:rPr>
              <a:t>연구소 </a:t>
            </a:r>
            <a:r>
              <a:rPr lang="en-US" altLang="ko-KR" dirty="0" smtClean="0">
                <a:latin typeface="+mn-ea"/>
                <a:ea typeface="+mn-ea"/>
              </a:rPr>
              <a:t>AICX</a:t>
            </a:r>
            <a:r>
              <a:rPr lang="ko-KR" altLang="en-US" dirty="0" smtClean="0">
                <a:latin typeface="+mn-ea"/>
                <a:ea typeface="+mn-ea"/>
              </a:rPr>
              <a:t>팀 담당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79483" y="1954314"/>
            <a:ext cx="36586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smtClean="0">
                <a:latin typeface="+mn-ea"/>
              </a:rPr>
              <a:t>* </a:t>
            </a:r>
            <a:r>
              <a:rPr lang="ko-KR" altLang="en-US" sz="2000" b="1" dirty="0" err="1" smtClean="0">
                <a:latin typeface="+mn-ea"/>
              </a:rPr>
              <a:t>발송주기</a:t>
            </a:r>
            <a:r>
              <a:rPr lang="en-US" altLang="ko-KR" sz="2000" b="1" dirty="0" smtClean="0">
                <a:latin typeface="+mn-ea"/>
              </a:rPr>
              <a:t>: 6</a:t>
            </a:r>
            <a:r>
              <a:rPr lang="ko-KR" altLang="en-US" sz="2000" b="1" dirty="0" smtClean="0">
                <a:latin typeface="+mn-ea"/>
              </a:rPr>
              <a:t>개월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543" y="3109577"/>
            <a:ext cx="1233308" cy="12333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05991" y="4029731"/>
            <a:ext cx="1132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/>
              <a:t>독서활동</a:t>
            </a:r>
            <a:endParaRPr lang="ko-KR" altLang="en-US" sz="1600" b="1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5394" y="2796423"/>
            <a:ext cx="1233308" cy="1233308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56" y="2796423"/>
            <a:ext cx="1233308" cy="12333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08992" y="4029731"/>
            <a:ext cx="1705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/>
              <a:t>독서이력데이터 수집</a:t>
            </a:r>
            <a:r>
              <a:rPr lang="en-US" altLang="ko-KR" sz="1600" b="1" dirty="0" smtClean="0"/>
              <a:t>/</a:t>
            </a:r>
            <a:r>
              <a:rPr lang="ko-KR" altLang="en-US" sz="1600" b="1" dirty="0" smtClean="0"/>
              <a:t>분석</a:t>
            </a:r>
            <a:endParaRPr lang="ko-KR" altLang="en-US" sz="1600" b="1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928" y="2115345"/>
            <a:ext cx="1077240" cy="951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0139" y="2771023"/>
            <a:ext cx="1132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/>
              <a:t>자녀</a:t>
            </a:r>
            <a:endParaRPr lang="ko-KR" altLang="en-US" sz="1600" b="1" dirty="0"/>
          </a:p>
        </p:txBody>
      </p:sp>
      <p:sp>
        <p:nvSpPr>
          <p:cNvPr id="27" name="오른쪽 화살표 26"/>
          <p:cNvSpPr/>
          <p:nvPr/>
        </p:nvSpPr>
        <p:spPr>
          <a:xfrm>
            <a:off x="2106579" y="3413077"/>
            <a:ext cx="595086" cy="42091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27"/>
          <p:cNvSpPr/>
          <p:nvPr/>
        </p:nvSpPr>
        <p:spPr>
          <a:xfrm>
            <a:off x="4438230" y="3413077"/>
            <a:ext cx="595086" cy="42091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오른쪽 화살표 28"/>
          <p:cNvSpPr/>
          <p:nvPr/>
        </p:nvSpPr>
        <p:spPr>
          <a:xfrm rot="19651779">
            <a:off x="6611370" y="2596179"/>
            <a:ext cx="595086" cy="42091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054538" y="2162458"/>
            <a:ext cx="1132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err="1" smtClean="0"/>
              <a:t>분석제공</a:t>
            </a:r>
            <a:endParaRPr lang="en-US" altLang="ko-KR" sz="1600" b="1" dirty="0" smtClean="0"/>
          </a:p>
          <a:p>
            <a:pPr algn="ctr"/>
            <a:r>
              <a:rPr lang="ko-KR" altLang="en-US" sz="1600" b="1" dirty="0" err="1" smtClean="0"/>
              <a:t>라운지앱</a:t>
            </a:r>
            <a:endParaRPr lang="ko-KR" altLang="en-US" sz="1600" b="1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624" y="4543551"/>
            <a:ext cx="809186" cy="8091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162413" y="4584155"/>
            <a:ext cx="11321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err="1" smtClean="0"/>
              <a:t>분석제공</a:t>
            </a:r>
            <a:endParaRPr lang="en-US" altLang="ko-KR" sz="1600" b="1" dirty="0" smtClean="0"/>
          </a:p>
          <a:p>
            <a:pPr algn="ctr"/>
            <a:r>
              <a:rPr lang="ko-KR" altLang="en-US" sz="1600" b="1" dirty="0" err="1" smtClean="0"/>
              <a:t>북클럽통</a:t>
            </a:r>
            <a:endParaRPr lang="ko-KR" altLang="en-US" sz="1600" b="1" dirty="0"/>
          </a:p>
        </p:txBody>
      </p:sp>
      <p:pic>
        <p:nvPicPr>
          <p:cNvPr id="33" name="그림 3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6" y="4393456"/>
            <a:ext cx="959061" cy="956717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967" y="1938647"/>
            <a:ext cx="959061" cy="959061"/>
          </a:xfrm>
          <a:prstGeom prst="rect">
            <a:avLst/>
          </a:prstGeom>
        </p:spPr>
      </p:pic>
      <p:sp>
        <p:nvSpPr>
          <p:cNvPr id="35" name="오른쪽 화살표 34"/>
          <p:cNvSpPr/>
          <p:nvPr/>
        </p:nvSpPr>
        <p:spPr>
          <a:xfrm>
            <a:off x="9248028" y="2258883"/>
            <a:ext cx="595086" cy="42091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>
            <a:off x="9275268" y="4666085"/>
            <a:ext cx="595086" cy="42091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오른쪽 화살표 38"/>
          <p:cNvSpPr/>
          <p:nvPr/>
        </p:nvSpPr>
        <p:spPr>
          <a:xfrm rot="2047001">
            <a:off x="6616128" y="4324964"/>
            <a:ext cx="595086" cy="42091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10011288" y="2897708"/>
            <a:ext cx="1098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/>
              <a:t>학부모</a:t>
            </a:r>
            <a:endParaRPr lang="ko-KR" altLang="en-US" sz="1600" b="1" dirty="0"/>
          </a:p>
        </p:txBody>
      </p:sp>
      <p:sp>
        <p:nvSpPr>
          <p:cNvPr id="41" name="TextBox 40"/>
          <p:cNvSpPr txBox="1"/>
          <p:nvPr/>
        </p:nvSpPr>
        <p:spPr>
          <a:xfrm>
            <a:off x="10011288" y="5350173"/>
            <a:ext cx="1098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/>
              <a:t>교사</a:t>
            </a:r>
            <a:endParaRPr lang="ko-KR" altLang="en-US" sz="1600" b="1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5079239" y="1973761"/>
            <a:ext cx="2244285" cy="3573382"/>
          </a:xfrm>
          <a:prstGeom prst="roundRect">
            <a:avLst>
              <a:gd name="adj" fmla="val 7892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188507" y="5557578"/>
            <a:ext cx="2025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* AX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연구소 담당</a:t>
            </a:r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6692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19"/>
          <p:cNvSpPr>
            <a:spLocks noGrp="1"/>
          </p:cNvSpPr>
          <p:nvPr>
            <p:ph type="title"/>
          </p:nvPr>
        </p:nvSpPr>
        <p:spPr>
          <a:xfrm>
            <a:off x="192089" y="7177"/>
            <a:ext cx="10367961" cy="601617"/>
          </a:xfrm>
        </p:spPr>
        <p:txBody>
          <a:bodyPr>
            <a:noAutofit/>
          </a:bodyPr>
          <a:lstStyle/>
          <a:p>
            <a:r>
              <a:rPr lang="en-US" altLang="ko-KR" dirty="0"/>
              <a:t>AI</a:t>
            </a:r>
            <a:r>
              <a:rPr lang="ko-KR" altLang="en-US" dirty="0" err="1"/>
              <a:t>독서코칭</a:t>
            </a:r>
            <a:r>
              <a:rPr lang="ko-KR" altLang="en-US" dirty="0"/>
              <a:t> 제공 </a:t>
            </a:r>
            <a:r>
              <a:rPr lang="ko-KR" altLang="en-US" dirty="0" smtClean="0"/>
              <a:t>내용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45" y="794150"/>
            <a:ext cx="4207670" cy="544699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5109029" y="1442136"/>
            <a:ext cx="5471885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dirty="0" smtClean="0">
                <a:latin typeface="+mn-ea"/>
              </a:rPr>
              <a:t>균형 독서 분석</a:t>
            </a:r>
            <a:endParaRPr lang="en-US" altLang="ko-KR" dirty="0" smtClean="0">
              <a:latin typeface="+mn-ea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dirty="0" smtClean="0">
                <a:latin typeface="+mn-ea"/>
              </a:rPr>
              <a:t>누리</a:t>
            </a:r>
            <a:r>
              <a:rPr lang="en-US" altLang="ko-KR" dirty="0" smtClean="0">
                <a:latin typeface="+mn-ea"/>
              </a:rPr>
              <a:t>/</a:t>
            </a:r>
            <a:r>
              <a:rPr lang="ko-KR" altLang="en-US" dirty="0" smtClean="0">
                <a:latin typeface="+mn-ea"/>
              </a:rPr>
              <a:t>교과 어휘 분석</a:t>
            </a:r>
            <a:endParaRPr lang="en-US" altLang="ko-KR" dirty="0" smtClean="0">
              <a:latin typeface="+mn-ea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dirty="0" smtClean="0">
                <a:latin typeface="+mn-ea"/>
              </a:rPr>
              <a:t>융합 독서 주제 분석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smtClean="0">
                <a:latin typeface="+mn-ea"/>
              </a:rPr>
              <a:t>도서 정보 활용</a:t>
            </a:r>
            <a:r>
              <a:rPr lang="en-US" altLang="ko-KR" dirty="0" smtClean="0">
                <a:latin typeface="+mn-ea"/>
              </a:rPr>
              <a:t>)</a:t>
            </a: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dirty="0" smtClean="0">
                <a:latin typeface="+mn-ea"/>
              </a:rPr>
              <a:t>독서 습관 분석</a:t>
            </a:r>
            <a:endParaRPr lang="en-US" altLang="ko-KR" dirty="0" smtClean="0">
              <a:latin typeface="+mn-ea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r>
              <a:rPr lang="ko-KR" altLang="en-US" dirty="0" err="1" smtClean="0">
                <a:latin typeface="+mn-ea"/>
              </a:rPr>
              <a:t>북클럽</a:t>
            </a:r>
            <a:r>
              <a:rPr lang="ko-KR" altLang="en-US" dirty="0" smtClean="0">
                <a:latin typeface="+mn-ea"/>
              </a:rPr>
              <a:t> 이용 현황</a:t>
            </a:r>
            <a:r>
              <a:rPr lang="en-US" altLang="ko-KR" dirty="0" smtClean="0">
                <a:latin typeface="+mn-ea"/>
              </a:rPr>
              <a:t>(</a:t>
            </a:r>
            <a:r>
              <a:rPr lang="ko-KR" altLang="en-US" dirty="0" smtClean="0">
                <a:latin typeface="+mn-ea"/>
              </a:rPr>
              <a:t>지정 값</a:t>
            </a:r>
            <a:r>
              <a:rPr lang="en-US" altLang="ko-KR" dirty="0" smtClean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109029" y="794150"/>
            <a:ext cx="6277428" cy="57606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latin typeface="+mn-ea"/>
              </a:rPr>
              <a:t>AI</a:t>
            </a:r>
            <a:r>
              <a:rPr lang="ko-KR" altLang="en-US" sz="2000" b="1" dirty="0" err="1" smtClean="0">
                <a:latin typeface="+mn-ea"/>
              </a:rPr>
              <a:t>독서코칭</a:t>
            </a:r>
            <a:r>
              <a:rPr lang="ko-KR" altLang="en-US" sz="2000" b="1" dirty="0" smtClean="0">
                <a:latin typeface="+mn-ea"/>
              </a:rPr>
              <a:t> 제공 분석 </a:t>
            </a:r>
            <a:r>
              <a:rPr lang="ko-KR" altLang="en-US" sz="2000" b="1" dirty="0" smtClean="0">
                <a:latin typeface="+mn-ea"/>
              </a:rPr>
              <a:t>내용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290457" y="462073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https://coaching-reading.wjthinkbig.com/coachingReading/coachingReadingMain?contractNumber=1002754634&amp;customerNumber=0024754370&amp;accountManager=17018288&amp;serviceGbn=wj&amp;memberTp=S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5109029" y="4027627"/>
            <a:ext cx="2576286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 smtClean="0">
                <a:latin typeface="+mn-ea"/>
              </a:rPr>
              <a:t>AI</a:t>
            </a:r>
            <a:r>
              <a:rPr lang="ko-KR" altLang="en-US" b="1" dirty="0" err="1" smtClean="0">
                <a:latin typeface="+mn-ea"/>
              </a:rPr>
              <a:t>독서코칭</a:t>
            </a:r>
            <a:r>
              <a:rPr lang="ko-KR" altLang="en-US" b="1" dirty="0" smtClean="0">
                <a:latin typeface="+mn-ea"/>
              </a:rPr>
              <a:t> 샘플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61112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4294</TotalTime>
  <Words>288</Words>
  <Application>Microsoft Office PowerPoint</Application>
  <PresentationFormat>와이드스크린</PresentationFormat>
  <Paragraphs>55</Paragraphs>
  <Slides>4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Office 테마</vt:lpstr>
      <vt:lpstr>think-cell Slide</vt:lpstr>
      <vt:lpstr>AI독서케어</vt:lpstr>
      <vt:lpstr>AI독서코칭 서비스 개요</vt:lpstr>
      <vt:lpstr>AI독서코칭 서비스 Flow</vt:lpstr>
      <vt:lpstr>AI독서코칭 제공 내용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지정환</dc:creator>
  <cp:lastModifiedBy>지정환</cp:lastModifiedBy>
  <cp:revision>19</cp:revision>
  <dcterms:created xsi:type="dcterms:W3CDTF">2025-12-26T05:28:15Z</dcterms:created>
  <dcterms:modified xsi:type="dcterms:W3CDTF">2025-12-29T05:03:04Z</dcterms:modified>
</cp:coreProperties>
</file>